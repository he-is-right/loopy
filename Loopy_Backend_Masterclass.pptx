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9787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8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Building "Loopy"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E2E8F0"/>
                </a:solidFill>
              </a:rPr>
              <a:t>A Full-Stack SaaS Backend Masterclass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Complete Student Resources &amp; Guide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82F6"/>
                </a:solidFill>
              </a:rPr>
              <a:t>1. What is a Backend?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33333"/>
                </a:solidFill>
              </a:rPr>
              <a:t>Imagine a restaurant: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524003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33333"/>
                </a:solidFill>
              </a:rPr>
              <a:t>• Frontend: </a:t>
            </a:r>
            <a:r>
              <a:rPr lang="en-US" sz="1800" dirty="0">
                <a:solidFill>
                  <a:srgbClr val="333333"/>
                </a:solidFill>
              </a:rPr>
              <a:t>The dining area, menus, and waiters (what the user sees).
</a:t>
            </a:r>
            <a:r>
              <a:rPr lang="en-US" sz="1800" b="1" dirty="0">
                <a:solidFill>
                  <a:srgbClr val="333333"/>
                </a:solidFill>
              </a:rPr>
              <a:t>• Backend: </a:t>
            </a:r>
            <a:r>
              <a:rPr lang="en-US" sz="1800" dirty="0">
                <a:solidFill>
                  <a:srgbClr val="333333"/>
                </a:solidFill>
              </a:rPr>
              <a:t>The kitchen. It receives orders (requests), gathers ingredients (data from the database), cooks the meal (business logic), and sends it back to the customer (response).
</a:t>
            </a:r>
            <a:r>
              <a:rPr lang="en-US" sz="1800" i="1" dirty="0">
                <a:solidFill>
                  <a:srgbClr val="666666"/>
                </a:solidFill>
              </a:rPr>
              <a:t>Today, we are building the kitchen for Loopy.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82F6"/>
                </a:solidFill>
              </a:rPr>
              <a:t>2. The Server Foundation 🏗️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596" y="2130357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33333"/>
                </a:solidFill>
              </a:rPr>
              <a:t>Node.js &amp; Express
</a:t>
            </a:r>
            <a:r>
              <a:rPr lang="en-US" sz="1800" dirty="0">
                <a:solidFill>
                  <a:srgbClr val="333333"/>
                </a:solidFill>
              </a:rPr>
              <a:t>To build a kitchen, you need a building. For us, that building is Node.js (which lets us run JavaScript on a computer) and Express (a framework that makes building web servers easy).
</a:t>
            </a:r>
            <a:r>
              <a:rPr lang="en-US" sz="1800" b="1" dirty="0">
                <a:solidFill>
                  <a:srgbClr val="333333"/>
                </a:solidFill>
              </a:rPr>
              <a:t>How it works in Loopy:
</a:t>
            </a:r>
            <a:r>
              <a:rPr lang="en-US" sz="1800" dirty="0">
                <a:solidFill>
                  <a:srgbClr val="333333"/>
                </a:solidFill>
              </a:rPr>
              <a:t>We created an Express server listening on Port 3000. Think of a port like a specific door on a building. When a user's browser wants to talk to Loopy, it knocks on Door 3000.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82F6"/>
                </a:solidFill>
              </a:rPr>
              <a:t>3. RESTful APIs &amp; Routing 🗺️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188724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</a:rPr>
              <a:t>How does the frontend talk to our backend? Using an API.
</a:t>
            </a:r>
            <a:r>
              <a:rPr lang="en-US" sz="1600" dirty="0">
                <a:solidFill>
                  <a:srgbClr val="333333"/>
                </a:solidFill>
              </a:rPr>
              <a:t>We use RESTful Routes, which are like specific order windows in our kitchen.
</a:t>
            </a:r>
            <a:r>
              <a:rPr lang="en-US" sz="1600" b="1" dirty="0">
                <a:solidFill>
                  <a:srgbClr val="10B981"/>
                </a:solidFill>
              </a:rPr>
              <a:t>• GET /api/campaigns </a:t>
            </a:r>
            <a:r>
              <a:rPr lang="en-US" sz="1600" dirty="0">
                <a:solidFill>
                  <a:srgbClr val="333333"/>
                </a:solidFill>
              </a:rPr>
              <a:t>➡️ "Give me all the feedback campaigns."
</a:t>
            </a:r>
            <a:r>
              <a:rPr lang="en-US" sz="1600" b="1" dirty="0">
                <a:solidFill>
                  <a:srgbClr val="3B82F6"/>
                </a:solidFill>
              </a:rPr>
              <a:t>• POST /api/campaigns </a:t>
            </a:r>
            <a:r>
              <a:rPr lang="en-US" sz="1600" dirty="0">
                <a:solidFill>
                  <a:srgbClr val="333333"/>
                </a:solidFill>
              </a:rPr>
              <a:t>➡️ "Here is data to create a NEW campaign."
</a:t>
            </a:r>
            <a:r>
              <a:rPr lang="en-US" sz="1600" b="1" dirty="0">
                <a:solidFill>
                  <a:srgbClr val="333333"/>
                </a:solidFill>
              </a:rPr>
              <a:t>The Request-Response Cycle:
</a:t>
            </a:r>
            <a:r>
              <a:rPr lang="en-US" sz="1600" dirty="0">
                <a:solidFill>
                  <a:srgbClr val="333333"/>
                </a:solidFill>
              </a:rPr>
              <a:t>1. User fills out form and submits.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2. Frontend sends an HTTP POST request containing JSON data.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3. Backend receives it, processes it, and sends back an HTTP 201 Created Response.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82F6"/>
                </a:solidFill>
              </a:rPr>
              <a:t>4. Data Persistence (SQLite) 💾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130357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If our server restarts, memory is wiped clean. We need a vault to store data permanently: A Database.
</a:t>
            </a:r>
            <a:r>
              <a:rPr lang="en-US" sz="1600" b="1" dirty="0">
                <a:solidFill>
                  <a:srgbClr val="333333"/>
                </a:solidFill>
              </a:rPr>
              <a:t>Relational Schema (The Blueprints):
</a:t>
            </a:r>
            <a:r>
              <a:rPr lang="en-US" sz="1600" dirty="0">
                <a:solidFill>
                  <a:srgbClr val="333333"/>
                </a:solidFill>
              </a:rPr>
              <a:t>We created strict tables that relate to each other:
</a:t>
            </a:r>
            <a:r>
              <a:rPr lang="en-US" sz="1600" b="1" dirty="0">
                <a:solidFill>
                  <a:srgbClr val="333333"/>
                </a:solidFill>
              </a:rPr>
              <a:t>1. Users Table: </a:t>
            </a:r>
            <a:r>
              <a:rPr lang="en-US" sz="1600" dirty="0">
                <a:solidFill>
                  <a:srgbClr val="333333"/>
                </a:solidFill>
              </a:rPr>
              <a:t>Stores id, email, password_hash, plan_type.
</a:t>
            </a:r>
            <a:r>
              <a:rPr lang="en-US" sz="1600" b="1" dirty="0">
                <a:solidFill>
                  <a:srgbClr val="333333"/>
                </a:solidFill>
              </a:rPr>
              <a:t>2. Campaigns Table: </a:t>
            </a:r>
            <a:r>
              <a:rPr lang="en-US" sz="1600" dirty="0">
                <a:solidFill>
                  <a:srgbClr val="333333"/>
                </a:solidFill>
              </a:rPr>
              <a:t>Stores the quest details. It has a user_id Foreign Key that points back to the User!
</a:t>
            </a:r>
            <a:r>
              <a:rPr lang="en-US" sz="1600" b="1" dirty="0">
                <a:solidFill>
                  <a:srgbClr val="333333"/>
                </a:solidFill>
              </a:rPr>
              <a:t>3. Responses Table: </a:t>
            </a:r>
            <a:r>
              <a:rPr lang="en-US" sz="1600" dirty="0">
                <a:solidFill>
                  <a:srgbClr val="333333"/>
                </a:solidFill>
              </a:rPr>
              <a:t>Stores the answers. It has a campaign_id Foreign Key.
This ensures data integrity (e.g. a response cannot exist without a campaign).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82F6"/>
                </a:solidFill>
              </a:rPr>
              <a:t>5. Authentication &amp; Security 🔒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078476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33333"/>
                </a:solidFill>
              </a:rPr>
              <a:t>Passwords (Bcrypt)
</a:t>
            </a:r>
            <a:r>
              <a:rPr lang="en-US" sz="1600" dirty="0">
                <a:solidFill>
                  <a:srgbClr val="333333"/>
                </a:solidFill>
              </a:rPr>
              <a:t>We never store raw passwords. When a user signs up, we scramble their password into a one-way mathematical hash (e.g., $2b$10$xyz...). When they log in, we hash what they typed and compare!
</a:t>
            </a:r>
            <a:r>
              <a:rPr lang="en-US" sz="2000" b="1" dirty="0">
                <a:solidFill>
                  <a:srgbClr val="333333"/>
                </a:solidFill>
              </a:rPr>
              <a:t>Sessions (express-session)
</a:t>
            </a:r>
            <a:r>
              <a:rPr lang="en-US" sz="1600" dirty="0">
                <a:solidFill>
                  <a:srgbClr val="333333"/>
                </a:solidFill>
              </a:rPr>
              <a:t>HTTP is "stateless" (it forgets who you are immediately). To keep users logged in, we give the user's browser a special cookie (a VIP wristband). Every time they request their dashboard, they show the wristband to prove who they are.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82F6"/>
                </a:solidFill>
              </a:rPr>
              <a:t>6. Business Logic &amp; SaaS Tiers 💼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Loopy is a SaaS with a "Free" tier and a "Pro" tier. We enforce these business rules on the backend.
</a:t>
            </a:r>
            <a:r>
              <a:rPr lang="en-US" sz="1600" b="1" dirty="0">
                <a:solidFill>
                  <a:srgbClr val="333333"/>
                </a:solidFill>
              </a:rPr>
              <a:t>The Logic Check (Middleware):
</a:t>
            </a:r>
            <a:r>
              <a:rPr lang="en-US" sz="1600" dirty="0">
                <a:solidFill>
                  <a:srgbClr val="333333"/>
                </a:solidFill>
              </a:rPr>
              <a:t>When a request comes into POST /api/campaigns, before we hit the database, we run a check:
1. Who is making the request? (Check session)
2. What is their plan_type?
3. If they are "Free", count their existing campaigns.
4. If they have 2 campaigns already, return a 403 Forbidden error!
This is the core of SaaS development: protecting resources based on user permissions.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82F6"/>
                </a:solidFill>
              </a:rPr>
              <a:t>7. Webhooks (Server-to-Server) 🕸️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052536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Pro users want real-time notifications in Slack. To do this, we built a Webhook integration.
A webhook is simply an API endpoint provided by another application (like Slack).
</a:t>
            </a:r>
            <a:r>
              <a:rPr lang="en-US" sz="1600" b="1" dirty="0">
                <a:solidFill>
                  <a:srgbClr val="333333"/>
                </a:solidFill>
              </a:rPr>
              <a:t>How Loopy does it:
</a:t>
            </a:r>
            <a:r>
              <a:rPr lang="en-US" sz="1600" dirty="0">
                <a:solidFill>
                  <a:srgbClr val="333333"/>
                </a:solidFill>
              </a:rPr>
              <a:t>1. The user gives us their Slack Webhook URL.
2. A customer submits a review (POST /api/responses).
3. After saving the review, our backend becomes a client.
4. We use fetch() to send an HTTP POST directly to Slack with the review data!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B9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The Full Stack Picture 🎉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1. Frontend (React) creates the beautiful UI.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2. Network sends JSON data via HTTP.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3. Backend (Express) routes requests &amp; enforces logic.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4. Database (SQLite) safely persists structured data.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5. Integrations (Webhooks) push data outwards.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839</Words>
  <Application>Microsoft Office PowerPoint</Application>
  <PresentationFormat>On-screen Show (16:9)</PresentationFormat>
  <Paragraphs>35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Loopy Tutorial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Loopy: SaaS Backend</dc:title>
  <dc:subject>Backend Development Masterclass</dc:subject>
  <dc:creator>Antigravity AI</dc:creator>
  <cp:lastModifiedBy>Tim Dawadakpoye</cp:lastModifiedBy>
  <cp:revision>2</cp:revision>
  <dcterms:created xsi:type="dcterms:W3CDTF">2026-08-28T22:34:08Z</dcterms:created>
  <dcterms:modified xsi:type="dcterms:W3CDTF">2026-08-28T22:36:50Z</dcterms:modified>
</cp:coreProperties>
</file>